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32688"/>
            <a:ext cx="100584" cy="411480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73CDD2"/>
                </a:solidFill>
                <a:latin typeface="Aptos"/>
              </a:defRPr>
            </a:pPr>
            <a:r>
              <a:t>UNIVERSIDAD BERNARDO O’HIGGINS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1" y="182880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  <a:latin typeface="Aptos"/>
              </a:defRPr>
            </a:pPr>
            <a:r>
              <a:t>GUARDIAN MAIPO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3246120"/>
            <a:ext cx="9144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FFFFFF"/>
                </a:solidFill>
                <a:latin typeface="Aptos"/>
              </a:defRPr>
            </a:pPr>
            <a:r>
              <a:t>Seguridad desde el primer cambio de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4736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1">
                <a:solidFill>
                  <a:srgbClr val="BCDAE3"/>
                </a:solidFill>
                <a:latin typeface="Aptos"/>
              </a:defRPr>
            </a:pPr>
            <a:r>
              <a:t>Daniel Silva  ·  Allen Ramirez  · 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5989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BBECC"/>
                </a:solidFill>
                <a:latin typeface="Aptos"/>
              </a:defRPr>
            </a:pPr>
            <a:r>
              <a:t>Estación de agua completamente simulada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¿Por qué este problema importa?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65576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7724" cy="283464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30083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INFRAESTRUCTURA CRÍTICA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Un sistema digital puede afectar un servicio esencial si sus decisiones no se revisan.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828800"/>
            <a:ext cx="3465576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828800"/>
            <a:ext cx="77724" cy="283464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2011680"/>
            <a:ext cx="30083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RIESGOS BÁSICOS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596896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Contraseñas visibles, entradas manipuladas y configuraciones abiertas.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465576" cy="2834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77724" cy="283464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0083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IDEA DEVSECOPS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96896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Automatizar revisiones del software antes de acercarlo a un sistema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32180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C8191"/>
                </a:solidFill>
                <a:latin typeface="Aptos"/>
              </a:defRPr>
            </a:pPr>
            <a:r>
              <a:t>Regla del laboratorio: solo sistemas ficticios, sin PLC, HMI ni redes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Arquitectura del sistema propio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8" name="Picture 7" descr="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691640"/>
            <a:ext cx="10927080" cy="4521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2910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E7482"/>
                </a:solidFill>
                <a:latin typeface="Aptos"/>
              </a:defRPr>
            </a:pPr>
            <a:r>
              <a:t>El lector JSON es funcional; el panel, la IA y el PLC aparecen solo como modelos.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Tres amenazas STRIDE priorizadas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7724" cy="329184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A1 · CREDENCIAL EXPUESTA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Suplantación y filtración.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Control: Gitleaks y secretos fuera del código.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7472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7724" cy="329184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1168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A2 · DATOS ALTERADOS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596896"/>
            <a:ext cx="2971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Manipulación y privilegios.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Control: entradas validadas y Semgrep.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828800"/>
            <a:ext cx="3456432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828800"/>
            <a:ext cx="77724" cy="329184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011680"/>
            <a:ext cx="299923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A3 · PANEL ABIERTO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596896"/>
            <a:ext cx="295351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Divulgación y denegación.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Control: Trivy config y red limitada.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23560"/>
            <a:ext cx="10789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5E7482"/>
                </a:solidFill>
                <a:latin typeface="Aptos"/>
              </a:defRPr>
            </a:pPr>
            <a:r>
              <a:t>Los impactos se expresan como consecuencias posibles sobre la continuidad de la supervisión.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Pipeline: no basta con que compile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33375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77724" cy="320040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57400"/>
            <a:ext cx="2880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01 · INTEGRACIÓN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42615"/>
            <a:ext cx="2834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Pruebas de Python y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4 variantes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375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1874519"/>
            <a:ext cx="77724" cy="320040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057400"/>
            <a:ext cx="2880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02 · SEGURIDAD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642615"/>
            <a:ext cx="2834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Gitleaks · Semgrep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Trivy · OSV · SBOM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74519"/>
            <a:ext cx="33375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74519"/>
            <a:ext cx="77724" cy="320040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057400"/>
            <a:ext cx="2880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03 · TALLER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642615"/>
            <a:ext cx="2834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Secreto ficticio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Rojo → Verde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6327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9374B"/>
                </a:solidFill>
                <a:latin typeface="Aptos"/>
              </a:defRPr>
            </a:pPr>
            <a:r>
              <a:t>Si el escáner encuentra un riesgo, la revisión debe detenerse y documentarse.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La IA no autoriza cambios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50749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01952"/>
            <a:ext cx="77724" cy="142646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084832"/>
            <a:ext cx="4617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¿Paquete verificado?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70048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No hay origen acreditado.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01952"/>
            <a:ext cx="50749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01952"/>
            <a:ext cx="77724" cy="142646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084832"/>
            <a:ext cx="4617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¿Entradas seguras?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670048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Se pretende construir un comando.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83864"/>
            <a:ext cx="50749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83864"/>
            <a:ext cx="77724" cy="142646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666744"/>
            <a:ext cx="4617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¿Protecciones intactas?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251960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El caso desactiva verificación TLS.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83864"/>
            <a:ext cx="507492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483864"/>
            <a:ext cx="77724" cy="142646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666744"/>
            <a:ext cx="46177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¿Datos bien destinados?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251960"/>
            <a:ext cx="4572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TELEMETRIA no está justificado.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49240"/>
            <a:ext cx="9893808" cy="594360"/>
          </a:xfrm>
          <a:prstGeom prst="roundRect">
            <a:avLst/>
          </a:prstGeom>
          <a:solidFill>
            <a:srgbClr val="19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93268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VEREDICTO HUMANO: RECHAZAR EL PARCHE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Evidencias: qué está probado y qué falta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65376"/>
            <a:ext cx="50292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65376"/>
            <a:ext cx="77724" cy="3429000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48256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COMPROBADO LOCALMENTE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633472"/>
            <a:ext cx="4526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12/12 tests unitarios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4/4 sectores ficticios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Lector funcional sin exponer la clave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865376"/>
            <a:ext cx="502920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2" y="1865376"/>
            <a:ext cx="77724" cy="3429000"/>
          </a:xfrm>
          <a:prstGeom prst="rect">
            <a:avLst/>
          </a:prstGeom>
          <a:solidFill>
            <a:srgbClr val="E1A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2048256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A DOCUMENTAR EN 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2633472"/>
            <a:ext cx="4526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URLs de acciones exitosas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Fallo y corrección de Gitleaks</a:t>
            </a:r>
          </a:p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Artefacto SBOM y PR de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623560"/>
            <a:ext cx="106801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No atribuir al equipo ejecuciones que todavía no se hicieron.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" y="13716"/>
            <a:ext cx="164592" cy="6830568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945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C8191"/>
                </a:solidFill>
                <a:latin typeface="Aptos"/>
              </a:defRPr>
            </a:pPr>
            <a:r>
              <a:t>TALLER DEVSECOPS · CASO FICTICIO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Conclusión del equipo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508760"/>
            <a:ext cx="11000232" cy="32004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Daniel Silva · Allen Ramirez · Antonella Mancilla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E74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000" b="1">
                <a:solidFill>
                  <a:srgbClr val="19374B"/>
                </a:solidFill>
                <a:latin typeface="Aptos"/>
              </a:defRPr>
            </a:pPr>
            <a:r>
              <a:t>En infraestructura crítica la seguridad se verifica ANTES del despliegue.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767328"/>
            <a:ext cx="346557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767328"/>
            <a:ext cx="77724" cy="1874519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950208"/>
            <a:ext cx="30083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Daniel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535424"/>
            <a:ext cx="2962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Consecuencia para las personas.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3767328"/>
            <a:ext cx="346557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3767328"/>
            <a:ext cx="77724" cy="1874519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3950208"/>
            <a:ext cx="30083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Allen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4535424"/>
            <a:ext cx="2962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Pruebas y compuertas automáticas.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3767328"/>
            <a:ext cx="346557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3767328"/>
            <a:ext cx="77724" cy="1874519"/>
          </a:xfrm>
          <a:prstGeom prst="rect">
            <a:avLst/>
          </a:prstGeom>
          <a:solidFill>
            <a:srgbClr val="1C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3950208"/>
            <a:ext cx="30083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9374B"/>
                </a:solidFill>
                <a:latin typeface="Aptos"/>
              </a:defRPr>
            </a:pPr>
            <a:r>
              <a:t>Antonella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4535424"/>
            <a:ext cx="296265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73846"/>
                </a:solidFill>
                <a:latin typeface="Aptos"/>
              </a:defRPr>
            </a:pPr>
            <a:r>
              <a:t>IA auditada con criterio humano.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